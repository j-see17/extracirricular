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layfair Display" charset="1" panose="00000000000000000000"/>
      <p:regular r:id="rId14"/>
    </p:embeddedFont>
    <p:embeddedFont>
      <p:font typeface="Raleway" charset="1" panose="00000000000000000000"/>
      <p:regular r:id="rId15"/>
    </p:embeddedFont>
    <p:embeddedFont>
      <p:font typeface="Raleway Bold" charset="1" panose="00000000000000000000"/>
      <p:regular r:id="rId16"/>
    </p:embeddedFont>
    <p:embeddedFont>
      <p:font typeface="Playfair Display Bold" charset="1" panose="00000000000000000000"/>
      <p:regular r:id="rId17"/>
    </p:embeddedFont>
    <p:embeddedFont>
      <p:font typeface="Canva Sans" charset="1" panose="020B0503030501040103"/>
      <p:regular r:id="rId18"/>
    </p:embeddedFont>
    <p:embeddedFont>
      <p:font typeface="Raleway Bold Italics" charset="1" panose="00000000000000000000"/>
      <p:regular r:id="rId19"/>
    </p:embeddedFont>
    <p:embeddedFont>
      <p:font typeface="Raleway Italic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207519" cy="6119593"/>
            <a:chOff x="0" y="0"/>
            <a:chExt cx="1707848" cy="16836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07848" cy="1683658"/>
            </a:xfrm>
            <a:custGeom>
              <a:avLst/>
              <a:gdLst/>
              <a:ahLst/>
              <a:cxnLst/>
              <a:rect r="r" b="b" t="t" l="l"/>
              <a:pathLst>
                <a:path h="1683658" w="1707848">
                  <a:moveTo>
                    <a:pt x="0" y="0"/>
                  </a:moveTo>
                  <a:lnTo>
                    <a:pt x="1707848" y="0"/>
                  </a:lnTo>
                  <a:lnTo>
                    <a:pt x="1707848" y="1683658"/>
                  </a:lnTo>
                  <a:lnTo>
                    <a:pt x="0" y="1683658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1707848" cy="18265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05496" y="5099368"/>
            <a:ext cx="4582504" cy="5295097"/>
          </a:xfrm>
          <a:custGeom>
            <a:avLst/>
            <a:gdLst/>
            <a:ahLst/>
            <a:cxnLst/>
            <a:rect r="r" b="b" t="t" l="l"/>
            <a:pathLst>
              <a:path h="5295097" w="4582504">
                <a:moveTo>
                  <a:pt x="0" y="0"/>
                </a:moveTo>
                <a:lnTo>
                  <a:pt x="4582504" y="0"/>
                </a:lnTo>
                <a:lnTo>
                  <a:pt x="4582504" y="5295097"/>
                </a:lnTo>
                <a:lnTo>
                  <a:pt x="0" y="52950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813" t="-8721" r="-1281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556168" y="9448059"/>
            <a:ext cx="6731832" cy="542044"/>
            <a:chOff x="0" y="0"/>
            <a:chExt cx="2077614" cy="1672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7614" cy="167288"/>
            </a:xfrm>
            <a:custGeom>
              <a:avLst/>
              <a:gdLst/>
              <a:ahLst/>
              <a:cxnLst/>
              <a:rect r="r" b="b" t="t" l="l"/>
              <a:pathLst>
                <a:path h="167288" w="2077614">
                  <a:moveTo>
                    <a:pt x="0" y="0"/>
                  </a:moveTo>
                  <a:lnTo>
                    <a:pt x="2077614" y="0"/>
                  </a:lnTo>
                  <a:lnTo>
                    <a:pt x="2077614" y="167288"/>
                  </a:lnTo>
                  <a:lnTo>
                    <a:pt x="0" y="167288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2077614" cy="310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53472"/>
            <a:ext cx="4962330" cy="2791311"/>
          </a:xfrm>
          <a:custGeom>
            <a:avLst/>
            <a:gdLst/>
            <a:ahLst/>
            <a:cxnLst/>
            <a:rect r="r" b="b" t="t" l="l"/>
            <a:pathLst>
              <a:path h="2791311" w="4962330">
                <a:moveTo>
                  <a:pt x="0" y="0"/>
                </a:moveTo>
                <a:lnTo>
                  <a:pt x="4962330" y="0"/>
                </a:lnTo>
                <a:lnTo>
                  <a:pt x="4962330" y="2791311"/>
                </a:lnTo>
                <a:lnTo>
                  <a:pt x="0" y="27913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098582" y="0"/>
            <a:ext cx="6189418" cy="3169506"/>
          </a:xfrm>
          <a:custGeom>
            <a:avLst/>
            <a:gdLst/>
            <a:ahLst/>
            <a:cxnLst/>
            <a:rect r="r" b="b" t="t" l="l"/>
            <a:pathLst>
              <a:path h="3169506" w="6189418">
                <a:moveTo>
                  <a:pt x="0" y="0"/>
                </a:moveTo>
                <a:lnTo>
                  <a:pt x="6189418" y="0"/>
                </a:lnTo>
                <a:lnTo>
                  <a:pt x="6189418" y="3169506"/>
                </a:lnTo>
                <a:lnTo>
                  <a:pt x="0" y="31695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31423" y="3315888"/>
            <a:ext cx="12130210" cy="443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9"/>
              </a:lnSpc>
            </a:pPr>
            <a:r>
              <a:rPr lang="en-US" sz="12999" spc="-2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NFL OFFENSIVE STRATEGY ANALYSIS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748614" y="7578469"/>
            <a:ext cx="10095828" cy="93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2700" spc="259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TEAMS ADJUST THEIR OFFENSE WHEN THE SCORE CHANGES.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04613" y="8638284"/>
            <a:ext cx="9400884" cy="43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 spc="23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JULIA SEE | SEPTEMBER 10,2026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616462" y="3176224"/>
            <a:ext cx="9750669" cy="578924"/>
            <a:chOff x="0" y="0"/>
            <a:chExt cx="3009304" cy="178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9304" cy="178671"/>
            </a:xfrm>
            <a:custGeom>
              <a:avLst/>
              <a:gdLst/>
              <a:ahLst/>
              <a:cxnLst/>
              <a:rect r="r" b="b" t="t" l="l"/>
              <a:pathLst>
                <a:path h="178671" w="3009304">
                  <a:moveTo>
                    <a:pt x="0" y="0"/>
                  </a:moveTo>
                  <a:lnTo>
                    <a:pt x="3009304" y="0"/>
                  </a:lnTo>
                  <a:lnTo>
                    <a:pt x="3009304" y="178671"/>
                  </a:lnTo>
                  <a:lnTo>
                    <a:pt x="0" y="178671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3009304" cy="32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3032" y="412916"/>
            <a:ext cx="6882062" cy="2937466"/>
          </a:xfrm>
          <a:custGeom>
            <a:avLst/>
            <a:gdLst/>
            <a:ahLst/>
            <a:cxnLst/>
            <a:rect r="r" b="b" t="t" l="l"/>
            <a:pathLst>
              <a:path h="2937466" w="6882062">
                <a:moveTo>
                  <a:pt x="0" y="0"/>
                </a:moveTo>
                <a:lnTo>
                  <a:pt x="6882062" y="0"/>
                </a:lnTo>
                <a:lnTo>
                  <a:pt x="6882062" y="2937466"/>
                </a:lnTo>
                <a:lnTo>
                  <a:pt x="0" y="29374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31832" y="2119774"/>
            <a:ext cx="9648672" cy="1202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835"/>
              </a:lnSpc>
            </a:pPr>
            <a:r>
              <a:rPr lang="en-US" sz="9500" spc="-684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Question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067300"/>
            <a:ext cx="11024423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6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How does play selection change when teams trail by 7+ compared with when they are leading or tied?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3594" y="3878972"/>
            <a:ext cx="9648672" cy="11647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464"/>
              </a:lnSpc>
            </a:pPr>
            <a:r>
              <a:rPr lang="en-US" sz="4800" spc="-345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does offensive strategy change when NFL teams are winning vs. losing?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3594" y="6259830"/>
            <a:ext cx="12988202" cy="437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Passing vs. Rushing:</a:t>
            </a:r>
            <a:r>
              <a:rPr lang="en-US" sz="2700" spc="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How the percentage of pass and run plays changes as teams move from leading to trailing.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Yards Gained:</a:t>
            </a:r>
            <a:r>
              <a:rPr lang="en-US" sz="2700" spc="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Whether passing or rushing produces different average yardage depending on the game situation.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EPA:</a:t>
            </a:r>
            <a:r>
              <a:rPr lang="en-US" sz="2700" spc="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How the expected value of passing and rushing plays changes across different score situations.</a:t>
            </a:r>
          </a:p>
          <a:p>
            <a:pPr algn="l" marL="582930" indent="-291465" lvl="1">
              <a:lnSpc>
                <a:spcPts val="3779"/>
              </a:lnSpc>
              <a:buFont typeface="Arial"/>
              <a:buChar char="•"/>
            </a:pPr>
            <a:r>
              <a:rPr lang="en-US" b="true" sz="2700" spc="54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Changes Throughout the Game:</a:t>
            </a:r>
            <a:r>
              <a:rPr lang="en-US" sz="2700" spc="54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How play selection shifts from the first quarter to the fourth quarter when a team is trailing by 7+ points.</a:t>
            </a:r>
          </a:p>
          <a:p>
            <a:pPr algn="l">
              <a:lnSpc>
                <a:spcPts val="4620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302037" y="4707426"/>
            <a:ext cx="4629650" cy="3219108"/>
          </a:xfrm>
          <a:custGeom>
            <a:avLst/>
            <a:gdLst/>
            <a:ahLst/>
            <a:cxnLst/>
            <a:rect r="r" b="b" t="t" l="l"/>
            <a:pathLst>
              <a:path h="3219108" w="4629650">
                <a:moveTo>
                  <a:pt x="0" y="0"/>
                </a:moveTo>
                <a:lnTo>
                  <a:pt x="4629650" y="0"/>
                </a:lnTo>
                <a:lnTo>
                  <a:pt x="4629650" y="3219108"/>
                </a:lnTo>
                <a:lnTo>
                  <a:pt x="0" y="3219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01900" y="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8128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4304" y="6136045"/>
            <a:ext cx="7764882" cy="3882441"/>
          </a:xfrm>
          <a:custGeom>
            <a:avLst/>
            <a:gdLst/>
            <a:ahLst/>
            <a:cxnLst/>
            <a:rect r="r" b="b" t="t" l="l"/>
            <a:pathLst>
              <a:path h="3882441" w="7764882">
                <a:moveTo>
                  <a:pt x="0" y="0"/>
                </a:moveTo>
                <a:lnTo>
                  <a:pt x="7764883" y="0"/>
                </a:lnTo>
                <a:lnTo>
                  <a:pt x="7764883" y="3882441"/>
                </a:lnTo>
                <a:lnTo>
                  <a:pt x="0" y="38824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476555" y="2026285"/>
            <a:ext cx="10834664" cy="723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64186" indent="-232093" lvl="1">
              <a:lnSpc>
                <a:spcPts val="3010"/>
              </a:lnSpc>
              <a:buFont typeface="Arial"/>
              <a:buChar char="•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DATA SOURCE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NFL play-by-play data from nflverse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2021–2024 seasons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2024: </a:t>
            </a: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49,492 plays | 372 variables</a:t>
            </a:r>
          </a:p>
          <a:p>
            <a:pPr algn="l" marL="464186" indent="-232093" lvl="1">
              <a:lnSpc>
                <a:spcPts val="3010"/>
              </a:lnSpc>
              <a:buFont typeface="Arial"/>
              <a:buChar char="•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FILTERING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Run + pass plays only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35,050 offensive plays analyzed in 2024</a:t>
            </a:r>
          </a:p>
          <a:p>
            <a:pPr algn="l" marL="464186" indent="-232093" lvl="1">
              <a:lnSpc>
                <a:spcPts val="3010"/>
              </a:lnSpc>
              <a:buFont typeface="Arial"/>
              <a:buChar char="•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GAME SITUATIONS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Leading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+1 or more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Tied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0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Trailing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-1 to -6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Trailing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7+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-7 to -13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Trailing 14+</a:t>
            </a: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 -14 or more</a:t>
            </a:r>
          </a:p>
          <a:p>
            <a:pPr algn="l" marL="464186" indent="-232093" lvl="1">
              <a:lnSpc>
                <a:spcPts val="3010"/>
              </a:lnSpc>
              <a:buFont typeface="Arial"/>
              <a:buChar char="•"/>
            </a:pPr>
            <a:r>
              <a:rPr lang="en-US" b="true" sz="2150" spc="43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MEASURES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 vs. run percentage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Average yards gained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EPA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Quarter-by-quarter play selection</a:t>
            </a:r>
          </a:p>
          <a:p>
            <a:pPr algn="l" marL="928371" indent="-309457" lvl="2">
              <a:lnSpc>
                <a:spcPts val="3010"/>
              </a:lnSpc>
              <a:buFont typeface="Arial"/>
              <a:buChar char="⚬"/>
            </a:pPr>
            <a:r>
              <a:rPr lang="en-US" sz="2150" spc="4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2021–2024 comparison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5609" y="1864695"/>
            <a:ext cx="5703132" cy="3789173"/>
          </a:xfrm>
          <a:custGeom>
            <a:avLst/>
            <a:gdLst/>
            <a:ahLst/>
            <a:cxnLst/>
            <a:rect r="r" b="b" t="t" l="l"/>
            <a:pathLst>
              <a:path h="3789173" w="5703132">
                <a:moveTo>
                  <a:pt x="0" y="0"/>
                </a:moveTo>
                <a:lnTo>
                  <a:pt x="5703132" y="0"/>
                </a:lnTo>
                <a:lnTo>
                  <a:pt x="5703132" y="3789173"/>
                </a:lnTo>
                <a:lnTo>
                  <a:pt x="0" y="37891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01900" y="38332"/>
            <a:ext cx="3086100" cy="1669461"/>
          </a:xfrm>
          <a:custGeom>
            <a:avLst/>
            <a:gdLst/>
            <a:ahLst/>
            <a:cxnLst/>
            <a:rect r="r" b="b" t="t" l="l"/>
            <a:pathLst>
              <a:path h="1669461" w="3086100">
                <a:moveTo>
                  <a:pt x="0" y="0"/>
                </a:moveTo>
                <a:lnTo>
                  <a:pt x="3086100" y="0"/>
                </a:lnTo>
                <a:lnTo>
                  <a:pt x="3086100" y="1669460"/>
                </a:lnTo>
                <a:lnTo>
                  <a:pt x="0" y="16694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2241" r="0" b="-2241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00306" y="605941"/>
            <a:ext cx="10013118" cy="1101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183"/>
              </a:lnSpc>
            </a:pPr>
            <a:r>
              <a:rPr lang="en-US" sz="8799" spc="-633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 and Methodology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190252" y="1165076"/>
            <a:ext cx="6731832" cy="542044"/>
            <a:chOff x="0" y="0"/>
            <a:chExt cx="2077614" cy="1672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7614" cy="167288"/>
            </a:xfrm>
            <a:custGeom>
              <a:avLst/>
              <a:gdLst/>
              <a:ahLst/>
              <a:cxnLst/>
              <a:rect r="r" b="b" t="t" l="l"/>
              <a:pathLst>
                <a:path h="167288" w="2077614">
                  <a:moveTo>
                    <a:pt x="0" y="0"/>
                  </a:moveTo>
                  <a:lnTo>
                    <a:pt x="2077614" y="0"/>
                  </a:lnTo>
                  <a:lnTo>
                    <a:pt x="2077614" y="167288"/>
                  </a:lnTo>
                  <a:lnTo>
                    <a:pt x="0" y="167288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2077614" cy="310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144000" y="2520246"/>
            <a:ext cx="8983483" cy="6218013"/>
          </a:xfrm>
          <a:custGeom>
            <a:avLst/>
            <a:gdLst/>
            <a:ahLst/>
            <a:cxnLst/>
            <a:rect r="r" b="b" t="t" l="l"/>
            <a:pathLst>
              <a:path h="6218013" w="8983483">
                <a:moveTo>
                  <a:pt x="0" y="0"/>
                </a:moveTo>
                <a:lnTo>
                  <a:pt x="8983483" y="0"/>
                </a:lnTo>
                <a:lnTo>
                  <a:pt x="8983483" y="6218013"/>
                </a:lnTo>
                <a:lnTo>
                  <a:pt x="0" y="6218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95379" y="986362"/>
            <a:ext cx="7607278" cy="3296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483"/>
              </a:lnSpc>
            </a:pPr>
            <a:r>
              <a:rPr lang="en-US" sz="9121" spc="-65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Play Selection by Game Situation</a:t>
            </a:r>
          </a:p>
          <a:p>
            <a:pPr algn="just" marL="0" indent="0" lvl="0">
              <a:lnSpc>
                <a:spcPts val="8483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295379" y="3395504"/>
            <a:ext cx="869757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66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How Does the Score Affect Play Selection?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379" y="5076825"/>
            <a:ext cx="9108633" cy="197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6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Leading:</a:t>
            </a:r>
            <a:r>
              <a:rPr lang="en-US" sz="3000" spc="6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50.09% pass | 49.91% run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6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Trailing 7–13: </a:t>
            </a:r>
            <a:r>
              <a:rPr lang="en-US" sz="3000" spc="6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63.04% pass | 36.96% run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b="true" sz="3000" spc="6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Trailing 14+:</a:t>
            </a:r>
            <a:r>
              <a:rPr lang="en-US" sz="3000" spc="6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70.13% pass | 29.87% run</a:t>
            </a:r>
          </a:p>
          <a:p>
            <a:pPr algn="l">
              <a:lnSpc>
                <a:spcPts val="2945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295379" y="4225581"/>
            <a:ext cx="9626727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spc="4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further a team falls behind, the more frequently it passes.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379" y="7307530"/>
            <a:ext cx="9108633" cy="2506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6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Key Finding:</a:t>
            </a:r>
          </a:p>
          <a:p>
            <a:pPr algn="l" marL="647703" indent="-323852" lvl="1">
              <a:lnSpc>
                <a:spcPts val="4200"/>
              </a:lnSpc>
              <a:buFont typeface="Arial"/>
              <a:buChar char="•"/>
            </a:pPr>
            <a:r>
              <a:rPr lang="en-US" sz="3000" spc="6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Passing increased by 20.04 percentage points from leading to trailing by 14+.</a:t>
            </a:r>
          </a:p>
          <a:p>
            <a:pPr algn="l">
              <a:lnSpc>
                <a:spcPts val="4200"/>
              </a:lnSpc>
            </a:pPr>
          </a:p>
          <a:p>
            <a:pPr algn="l">
              <a:lnSpc>
                <a:spcPts val="294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93759" y="7998823"/>
            <a:ext cx="9750669" cy="578924"/>
            <a:chOff x="0" y="0"/>
            <a:chExt cx="3009304" cy="178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9304" cy="178671"/>
            </a:xfrm>
            <a:custGeom>
              <a:avLst/>
              <a:gdLst/>
              <a:ahLst/>
              <a:cxnLst/>
              <a:rect r="r" b="b" t="t" l="l"/>
              <a:pathLst>
                <a:path h="178671" w="3009304">
                  <a:moveTo>
                    <a:pt x="0" y="0"/>
                  </a:moveTo>
                  <a:lnTo>
                    <a:pt x="3009304" y="0"/>
                  </a:lnTo>
                  <a:lnTo>
                    <a:pt x="3009304" y="178671"/>
                  </a:lnTo>
                  <a:lnTo>
                    <a:pt x="0" y="178671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3009304" cy="32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82215" y="3818622"/>
            <a:ext cx="9648672" cy="2583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Leading: 6.62 average passing yards</a:t>
            </a:r>
          </a:p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Trailing 7–13: 6.18 average passing yards</a:t>
            </a:r>
          </a:p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Trailing 14+: 5.29 average passing yards</a:t>
            </a:r>
          </a:p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Trailing 14+ EPA: −0.122</a:t>
            </a:r>
          </a:p>
          <a:p>
            <a:pPr algn="l">
              <a:lnSpc>
                <a:spcPts val="2945"/>
              </a:lnSpc>
            </a:pPr>
          </a:p>
          <a:p>
            <a:pPr algn="l">
              <a:lnSpc>
                <a:spcPts val="364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6380504" y="0"/>
            <a:ext cx="1907496" cy="190749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142875"/>
              <a:ext cx="8128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65578" y="3688243"/>
            <a:ext cx="8214652" cy="5733279"/>
          </a:xfrm>
          <a:custGeom>
            <a:avLst/>
            <a:gdLst/>
            <a:ahLst/>
            <a:cxnLst/>
            <a:rect r="r" b="b" t="t" l="l"/>
            <a:pathLst>
              <a:path h="5733279" w="8214652">
                <a:moveTo>
                  <a:pt x="0" y="0"/>
                </a:moveTo>
                <a:lnTo>
                  <a:pt x="8214653" y="0"/>
                </a:lnTo>
                <a:lnTo>
                  <a:pt x="8214653" y="5733279"/>
                </a:lnTo>
                <a:lnTo>
                  <a:pt x="0" y="57332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90699" y="747046"/>
            <a:ext cx="11556168" cy="116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81"/>
              </a:lnSpc>
            </a:pPr>
            <a:r>
              <a:rPr lang="en-US" sz="9119" spc="-65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Offensive Efficiency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20389" y="2001186"/>
            <a:ext cx="869757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spc="66" b="true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Does Passing More Mean Better Results?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32120" y="2668280"/>
            <a:ext cx="13896221" cy="41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Passing increased when teams fell behind, but passing efficiency decreased in larger deficits.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82215" y="5844368"/>
            <a:ext cx="8170037" cy="13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503" spc="50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Key Finding:</a:t>
            </a:r>
          </a:p>
          <a:p>
            <a:pPr algn="l" marL="562189" indent="-281095" lvl="1">
              <a:lnSpc>
                <a:spcPts val="3645"/>
              </a:lnSpc>
              <a:buFont typeface="Arial"/>
              <a:buChar char="•"/>
            </a:pPr>
            <a:r>
              <a:rPr lang="en-US" sz="2603" spc="5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More passing did not necessarily mean more efficient passing.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76998" y="9258300"/>
            <a:ext cx="9750669" cy="578924"/>
            <a:chOff x="0" y="0"/>
            <a:chExt cx="3009304" cy="178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09304" cy="178671"/>
            </a:xfrm>
            <a:custGeom>
              <a:avLst/>
              <a:gdLst/>
              <a:ahLst/>
              <a:cxnLst/>
              <a:rect r="r" b="b" t="t" l="l"/>
              <a:pathLst>
                <a:path h="178671" w="3009304">
                  <a:moveTo>
                    <a:pt x="0" y="0"/>
                  </a:moveTo>
                  <a:lnTo>
                    <a:pt x="3009304" y="0"/>
                  </a:lnTo>
                  <a:lnTo>
                    <a:pt x="3009304" y="178671"/>
                  </a:lnTo>
                  <a:lnTo>
                    <a:pt x="0" y="178671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3009304" cy="32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80504" y="0"/>
            <a:ext cx="1907496" cy="1907496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142875"/>
              <a:ext cx="8128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1640476" y="4413787"/>
          <a:ext cx="6838453" cy="4520326"/>
        </p:xfrm>
        <a:graphic>
          <a:graphicData uri="http://schemas.openxmlformats.org/drawingml/2006/table">
            <a:tbl>
              <a:tblPr/>
              <a:tblGrid>
                <a:gridCol w="3419227"/>
                <a:gridCol w="3419227"/>
              </a:tblGrid>
              <a:tr h="904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Quarter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Pass Plays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4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Q1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53.81%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4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Q2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60.77%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4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Q3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56.91%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0406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Q4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77.63%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9" id="9"/>
          <p:cNvSpPr/>
          <p:nvPr/>
        </p:nvSpPr>
        <p:spPr>
          <a:xfrm flipH="false" flipV="false" rot="0">
            <a:off x="10083589" y="2490491"/>
            <a:ext cx="7880223" cy="5643423"/>
          </a:xfrm>
          <a:custGeom>
            <a:avLst/>
            <a:gdLst/>
            <a:ahLst/>
            <a:cxnLst/>
            <a:rect r="r" b="b" t="t" l="l"/>
            <a:pathLst>
              <a:path h="5643423" w="7880223">
                <a:moveTo>
                  <a:pt x="0" y="0"/>
                </a:moveTo>
                <a:lnTo>
                  <a:pt x="7880223" y="0"/>
                </a:lnTo>
                <a:lnTo>
                  <a:pt x="7880223" y="5643423"/>
                </a:lnTo>
                <a:lnTo>
                  <a:pt x="0" y="56434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69577" y="550751"/>
            <a:ext cx="9648672" cy="223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81"/>
              </a:lnSpc>
            </a:pPr>
            <a:r>
              <a:rPr lang="en-US" sz="9119" spc="-65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Happens as the Game Progresses?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18997" y="8659760"/>
            <a:ext cx="8173302" cy="746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5"/>
              </a:lnSpc>
            </a:pPr>
            <a:r>
              <a:rPr lang="en-US" sz="2103" spc="42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Key Finding:</a:t>
            </a:r>
          </a:p>
          <a:p>
            <a:pPr algn="l" marL="454242" indent="-227121" lvl="1">
              <a:lnSpc>
                <a:spcPts val="2945"/>
              </a:lnSpc>
              <a:buFont typeface="Arial"/>
              <a:buChar char="•"/>
            </a:pPr>
            <a:r>
              <a:rPr lang="en-US" sz="2103" spc="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Passing increased 23.82 percentage points from Q1 to Q4.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873251"/>
            <a:ext cx="9648672" cy="40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69"/>
              </a:lnSpc>
            </a:pPr>
            <a:r>
              <a:rPr lang="en-US" b="true" sz="3300" spc="-237">
                <a:solidFill>
                  <a:srgbClr val="000000"/>
                </a:solidFill>
                <a:latin typeface="Playfair Display Bold"/>
                <a:ea typeface="Playfair Display Bold"/>
                <a:cs typeface="Playfair Display Bold"/>
                <a:sym typeface="Playfair Display Bold"/>
              </a:rPr>
              <a:t>Passing Increases as the Clock Runs Down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3453730"/>
            <a:ext cx="8940470" cy="834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When teams remained behind by 7+ points, passing became much more common later in the game.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380504" y="0"/>
            <a:ext cx="1907496" cy="190749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8128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6194996" y="3324136"/>
          <a:ext cx="7095342" cy="4619267"/>
        </p:xfrm>
        <a:graphic>
          <a:graphicData uri="http://schemas.openxmlformats.org/drawingml/2006/table">
            <a:tbl>
              <a:tblPr/>
              <a:tblGrid>
                <a:gridCol w="3547671"/>
                <a:gridCol w="3547671"/>
              </a:tblGrid>
              <a:tr h="8930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Season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Pass % When Trailing 7+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084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63.69%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99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62.97%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30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63.09%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547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2024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63.04%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6" id="6"/>
          <p:cNvSpPr/>
          <p:nvPr/>
        </p:nvSpPr>
        <p:spPr>
          <a:xfrm flipH="false" flipV="false" rot="0">
            <a:off x="13489694" y="3083186"/>
            <a:ext cx="4653190" cy="3193781"/>
          </a:xfrm>
          <a:custGeom>
            <a:avLst/>
            <a:gdLst/>
            <a:ahLst/>
            <a:cxnLst/>
            <a:rect r="r" b="b" t="t" l="l"/>
            <a:pathLst>
              <a:path h="3193781" w="4653190">
                <a:moveTo>
                  <a:pt x="0" y="0"/>
                </a:moveTo>
                <a:lnTo>
                  <a:pt x="4653191" y="0"/>
                </a:lnTo>
                <a:lnTo>
                  <a:pt x="4653191" y="3193781"/>
                </a:lnTo>
                <a:lnTo>
                  <a:pt x="0" y="31937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92741"/>
            <a:ext cx="5422170" cy="10472482"/>
          </a:xfrm>
          <a:custGeom>
            <a:avLst/>
            <a:gdLst/>
            <a:ahLst/>
            <a:cxnLst/>
            <a:rect r="r" b="b" t="t" l="l"/>
            <a:pathLst>
              <a:path h="10472482" w="5422170">
                <a:moveTo>
                  <a:pt x="0" y="0"/>
                </a:moveTo>
                <a:lnTo>
                  <a:pt x="5422170" y="0"/>
                </a:lnTo>
                <a:lnTo>
                  <a:pt x="5422170" y="10472482"/>
                </a:lnTo>
                <a:lnTo>
                  <a:pt x="0" y="104724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1772" t="0" r="-41369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000719" y="9543604"/>
            <a:ext cx="9750669" cy="578924"/>
            <a:chOff x="0" y="0"/>
            <a:chExt cx="3009304" cy="1786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09304" cy="178671"/>
            </a:xfrm>
            <a:custGeom>
              <a:avLst/>
              <a:gdLst/>
              <a:ahLst/>
              <a:cxnLst/>
              <a:rect r="r" b="b" t="t" l="l"/>
              <a:pathLst>
                <a:path h="178671" w="3009304">
                  <a:moveTo>
                    <a:pt x="0" y="0"/>
                  </a:moveTo>
                  <a:lnTo>
                    <a:pt x="3009304" y="0"/>
                  </a:lnTo>
                  <a:lnTo>
                    <a:pt x="3009304" y="178671"/>
                  </a:lnTo>
                  <a:lnTo>
                    <a:pt x="0" y="178671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42875"/>
              <a:ext cx="3009304" cy="321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5935305" y="562775"/>
            <a:ext cx="10445199" cy="116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8481"/>
              </a:lnSpc>
            </a:pPr>
            <a:r>
              <a:rPr lang="en-US" sz="9119" spc="-65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Multi-Season Results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989841" y="8000554"/>
            <a:ext cx="8269459" cy="2475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3"/>
              </a:lnSpc>
            </a:pPr>
            <a:r>
              <a:rPr lang="en-US" b="true" sz="2045" i="true" spc="40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Key Finding</a:t>
            </a:r>
          </a:p>
          <a:p>
            <a:pPr algn="l">
              <a:lnSpc>
                <a:spcPts val="2863"/>
              </a:lnSpc>
            </a:pPr>
          </a:p>
          <a:p>
            <a:pPr algn="l">
              <a:lnSpc>
                <a:spcPts val="2863"/>
              </a:lnSpc>
            </a:pPr>
            <a:r>
              <a:rPr lang="en-US" b="true" sz="2045" i="true" spc="40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The results were remarkably consistent across all four seasons.</a:t>
            </a:r>
          </a:p>
          <a:p>
            <a:pPr algn="l" marL="441532" indent="-220766" lvl="1">
              <a:lnSpc>
                <a:spcPts val="2863"/>
              </a:lnSpc>
              <a:buFont typeface="Arial"/>
              <a:buChar char="•"/>
            </a:pPr>
            <a:r>
              <a:rPr lang="en-US" b="true" sz="2045" i="true" spc="40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Lowest: </a:t>
            </a:r>
            <a:r>
              <a:rPr lang="en-US" sz="2045" i="true" spc="40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62.97% in 2022</a:t>
            </a:r>
          </a:p>
          <a:p>
            <a:pPr algn="l" marL="441532" indent="-220766" lvl="1">
              <a:lnSpc>
                <a:spcPts val="2863"/>
              </a:lnSpc>
              <a:buFont typeface="Arial"/>
              <a:buChar char="•"/>
            </a:pPr>
            <a:r>
              <a:rPr lang="en-US" b="true" sz="2045" i="true" spc="40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Highest: </a:t>
            </a:r>
            <a:r>
              <a:rPr lang="en-US" sz="2045" i="true" spc="40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63.69% in 2021</a:t>
            </a:r>
          </a:p>
          <a:p>
            <a:pPr algn="l" marL="441532" indent="-220766" lvl="1">
              <a:lnSpc>
                <a:spcPts val="2863"/>
              </a:lnSpc>
              <a:buFont typeface="Arial"/>
              <a:buChar char="•"/>
            </a:pPr>
            <a:r>
              <a:rPr lang="en-US" b="true" sz="2045" i="true" spc="40">
                <a:solidFill>
                  <a:srgbClr val="000000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2024: </a:t>
            </a:r>
            <a:r>
              <a:rPr lang="en-US" sz="2045" i="true" spc="40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63.04%</a:t>
            </a:r>
          </a:p>
          <a:p>
            <a:pPr algn="l">
              <a:lnSpc>
                <a:spcPts val="2443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029759" y="1993221"/>
            <a:ext cx="10445199" cy="40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069"/>
              </a:lnSpc>
            </a:pPr>
            <a:r>
              <a:rPr lang="en-US" sz="3300" spc="-237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Is This Pattern Consistent Across Seasons?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029759" y="2525478"/>
            <a:ext cx="10256290" cy="41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5"/>
              </a:lnSpc>
            </a:pPr>
            <a:r>
              <a:rPr lang="en-US" sz="2403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Passing remained around 63% when teams were trailing by 7+ points.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01900" y="7200900"/>
            <a:ext cx="3086100" cy="30861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42875"/>
              <a:ext cx="812800" cy="955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806797" y="630345"/>
            <a:ext cx="12280313" cy="116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81"/>
              </a:lnSpc>
            </a:pPr>
            <a:r>
              <a:rPr lang="en-US" sz="9119" spc="-656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Key Findings &amp; Limitations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6784" y="2576036"/>
            <a:ext cx="10359203" cy="3131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49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Key Findings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Passing increased as deficits became larger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Passing increased substantially in the fourth quarter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More passing did not necessarily mean greater efficiency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4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trailing 7+ pattern was consistent across 2021–2024</a:t>
            </a:r>
          </a:p>
          <a:p>
            <a:pPr algn="l">
              <a:lnSpc>
                <a:spcPts val="406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-2337216" y="1028700"/>
            <a:ext cx="6731832" cy="542044"/>
            <a:chOff x="0" y="0"/>
            <a:chExt cx="2077614" cy="1672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77614" cy="167288"/>
            </a:xfrm>
            <a:custGeom>
              <a:avLst/>
              <a:gdLst/>
              <a:ahLst/>
              <a:cxnLst/>
              <a:rect r="r" b="b" t="t" l="l"/>
              <a:pathLst>
                <a:path h="167288" w="2077614">
                  <a:moveTo>
                    <a:pt x="0" y="0"/>
                  </a:moveTo>
                  <a:lnTo>
                    <a:pt x="2077614" y="0"/>
                  </a:lnTo>
                  <a:lnTo>
                    <a:pt x="2077614" y="167288"/>
                  </a:lnTo>
                  <a:lnTo>
                    <a:pt x="0" y="167288"/>
                  </a:lnTo>
                  <a:close/>
                </a:path>
              </a:pathLst>
            </a:custGeom>
            <a:solidFill>
              <a:srgbClr val="F4DDD8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42875"/>
              <a:ext cx="2077614" cy="3101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843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4806797" y="1939004"/>
            <a:ext cx="7074240" cy="408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69"/>
              </a:lnSpc>
            </a:pPr>
            <a:r>
              <a:rPr lang="en-US" sz="3300" spc="-237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Did the Analysis Show?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6784" y="5431347"/>
            <a:ext cx="6708966" cy="3724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spc="48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Important Limitations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analysis does not account for: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Down &amp; distance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Time remaining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Field position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Personnel &amp; injuries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Weather</a:t>
            </a:r>
          </a:p>
          <a:p>
            <a:pPr algn="l" marL="1036320" indent="-345440" lvl="2">
              <a:lnSpc>
                <a:spcPts val="3359"/>
              </a:lnSpc>
              <a:buFont typeface="Arial"/>
              <a:buChar char="⚬"/>
            </a:pPr>
            <a:r>
              <a:rPr lang="en-US" sz="2400" spc="48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Team offensive philosophy</a:t>
            </a:r>
          </a:p>
          <a:p>
            <a:pPr algn="l">
              <a:lnSpc>
                <a:spcPts val="2945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169128" y="7067550"/>
            <a:ext cx="3118872" cy="321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004" spc="4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 analysis identifies relationships between game situation and play selection, but does not establish that score differential alone causes these changes.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489789" y="2942587"/>
            <a:ext cx="4077515" cy="5091822"/>
          </a:xfrm>
          <a:custGeom>
            <a:avLst/>
            <a:gdLst/>
            <a:ahLst/>
            <a:cxnLst/>
            <a:rect r="r" b="b" t="t" l="l"/>
            <a:pathLst>
              <a:path h="5091822" w="4077515">
                <a:moveTo>
                  <a:pt x="0" y="0"/>
                </a:moveTo>
                <a:lnTo>
                  <a:pt x="4077515" y="0"/>
                </a:lnTo>
                <a:lnTo>
                  <a:pt x="4077515" y="5091821"/>
                </a:lnTo>
                <a:lnTo>
                  <a:pt x="0" y="5091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DAHV3AOyY3w</dc:identifier>
  <dcterms:modified xsi:type="dcterms:W3CDTF">2011-08-01T06:04:30Z</dcterms:modified>
  <cp:revision>1</cp:revision>
  <dc:title>NFL Offensive Strategy Analysis</dc:title>
</cp:coreProperties>
</file>